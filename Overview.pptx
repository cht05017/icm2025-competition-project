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1" r:id="rId2"/>
  </p:sldIdLst>
  <p:sldSz cx="180006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57"/>
    <a:srgbClr val="00886A"/>
    <a:srgbClr val="00A27E"/>
    <a:srgbClr val="00B089"/>
    <a:srgbClr val="00C99F"/>
    <a:srgbClr val="006266"/>
    <a:srgbClr val="00858A"/>
    <a:srgbClr val="00A2A8"/>
    <a:srgbClr val="E3E3E3"/>
    <a:srgbClr val="007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6" autoAdjust="0"/>
    <p:restoredTop sz="94660"/>
  </p:normalViewPr>
  <p:slideViewPr>
    <p:cSldViewPr snapToGrid="0">
      <p:cViewPr>
        <p:scale>
          <a:sx n="75" d="100"/>
          <a:sy n="75" d="100"/>
        </p:scale>
        <p:origin x="-12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CB159-8B1E-4A9B-98B1-612A4B2C0AF8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1143000"/>
            <a:ext cx="80994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83EE-858A-4BB8-AA1F-25165346264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620713" y="1143000"/>
            <a:ext cx="809942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D83EE-858A-4BB8-AA1F-251653462641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122363"/>
            <a:ext cx="135004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602038"/>
            <a:ext cx="135004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709739"/>
            <a:ext cx="1552557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4589464"/>
            <a:ext cx="1552557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825625"/>
            <a:ext cx="7650282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65126"/>
            <a:ext cx="1552557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681163"/>
            <a:ext cx="76151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505075"/>
            <a:ext cx="761512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681163"/>
            <a:ext cx="765262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505075"/>
            <a:ext cx="765262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987426"/>
            <a:ext cx="9112836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457200"/>
            <a:ext cx="580568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987426"/>
            <a:ext cx="9112836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057400"/>
            <a:ext cx="580568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65125"/>
            <a:ext cx="388139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65125"/>
            <a:ext cx="11419171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65126"/>
            <a:ext cx="155255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825625"/>
            <a:ext cx="1552557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F2441-D1C5-4C6F-9E0C-603BBB173084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6356351"/>
            <a:ext cx="6075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6356351"/>
            <a:ext cx="40501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7FBEB-94F2-40F0-8933-0448116BF74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071C3F0E-1A3F-A1F3-107A-E39E2903C8DF}"/>
              </a:ext>
            </a:extLst>
          </p:cNvPr>
          <p:cNvGrpSpPr/>
          <p:nvPr/>
        </p:nvGrpSpPr>
        <p:grpSpPr>
          <a:xfrm>
            <a:off x="1997710" y="1833144"/>
            <a:ext cx="13146405" cy="2878556"/>
            <a:chOff x="1997710" y="1833144"/>
            <a:chExt cx="13146405" cy="2878556"/>
          </a:xfrm>
        </p:grpSpPr>
        <p:sp>
          <p:nvSpPr>
            <p:cNvPr id="2" name="矩形 1"/>
            <p:cNvSpPr/>
            <p:nvPr/>
          </p:nvSpPr>
          <p:spPr>
            <a:xfrm>
              <a:off x="1997710" y="1833880"/>
              <a:ext cx="13146405" cy="287782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2223374" y="2452585"/>
              <a:ext cx="2854900" cy="2088000"/>
            </a:xfrm>
            <a:prstGeom prst="rect">
              <a:avLst/>
            </a:prstGeom>
            <a:solidFill>
              <a:srgbClr val="135B92"/>
            </a:solidFill>
            <a:ln w="317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2468424" y="2842873"/>
              <a:ext cx="2362200" cy="731935"/>
            </a:xfrm>
            <a:prstGeom prst="rect">
              <a:avLst/>
            </a:prstGeom>
            <a:solidFill>
              <a:srgbClr val="00436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357958" y="2850280"/>
              <a:ext cx="260855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Elementary Ecology Interactions Model</a:t>
              </a:r>
              <a:endParaRPr lang="zh-CN" altLang="en-US" sz="9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567481" y="3101593"/>
              <a:ext cx="1060479" cy="397555"/>
            </a:xfrm>
            <a:prstGeom prst="rect">
              <a:avLst/>
            </a:prstGeom>
            <a:solidFill>
              <a:srgbClr val="1424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526840" y="3131092"/>
              <a:ext cx="11506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Intra-Interspecific interactions</a:t>
              </a:r>
              <a:endParaRPr lang="zh-CN" altLang="en-US" sz="8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3718159" y="3098611"/>
              <a:ext cx="1060479" cy="397555"/>
            </a:xfrm>
            <a:prstGeom prst="rect">
              <a:avLst/>
            </a:prstGeom>
            <a:solidFill>
              <a:srgbClr val="1424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703663" y="3123817"/>
              <a:ext cx="106047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Agricultural Cycle </a:t>
              </a:r>
            </a:p>
            <a:p>
              <a:pPr algn="ctr"/>
              <a:r>
                <a:rPr lang="en-US" altLang="zh-CN" sz="8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Season</a:t>
              </a:r>
              <a:endParaRPr lang="zh-CN" altLang="en-US" sz="8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2468424" y="3743755"/>
              <a:ext cx="2362200" cy="617183"/>
            </a:xfrm>
            <a:prstGeom prst="rect">
              <a:avLst/>
            </a:prstGeom>
            <a:solidFill>
              <a:srgbClr val="00436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26665" y="3778885"/>
              <a:ext cx="2405380" cy="229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Elementary Ecology Destroyer Model</a:t>
              </a:r>
              <a:endParaRPr lang="zh-CN" altLang="en-US" sz="9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858053" y="2508710"/>
              <a:ext cx="17202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Food Web Model</a:t>
              </a:r>
              <a:endParaRPr lang="zh-CN" altLang="en-US" sz="1400" b="1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567480" y="4009706"/>
              <a:ext cx="504194" cy="270506"/>
            </a:xfrm>
            <a:prstGeom prst="rect">
              <a:avLst/>
            </a:prstGeom>
            <a:solidFill>
              <a:srgbClr val="1424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2442385" y="3988887"/>
              <a:ext cx="7543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Dataset</a:t>
              </a:r>
            </a:p>
            <a:p>
              <a:pPr algn="ctr"/>
              <a:r>
                <a:rPr lang="en-US" altLang="zh-CN" sz="7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preparation</a:t>
              </a:r>
              <a:endParaRPr lang="zh-CN" altLang="en-US" sz="7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3116170" y="4009706"/>
              <a:ext cx="504194" cy="270506"/>
            </a:xfrm>
            <a:prstGeom prst="rect">
              <a:avLst/>
            </a:prstGeom>
            <a:solidFill>
              <a:srgbClr val="1424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2991075" y="3988887"/>
              <a:ext cx="7543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 err="1">
                  <a:solidFill>
                    <a:schemeClr val="bg1"/>
                  </a:solidFill>
                  <a:latin typeface="Comic Sans MS" panose="030F0702030302020204" pitchFamily="66" charset="0"/>
                </a:rPr>
                <a:t>Nueral</a:t>
              </a:r>
              <a:endParaRPr lang="en-US" altLang="zh-CN" sz="7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  <a:p>
              <a:pPr algn="ctr"/>
              <a:r>
                <a:rPr lang="en-US" altLang="zh-CN" sz="7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Network</a:t>
              </a:r>
            </a:p>
          </p:txBody>
        </p:sp>
        <p:sp>
          <p:nvSpPr>
            <p:cNvPr id="42" name="矩形 41"/>
            <p:cNvSpPr/>
            <p:nvPr/>
          </p:nvSpPr>
          <p:spPr>
            <a:xfrm>
              <a:off x="3664860" y="4009706"/>
              <a:ext cx="504194" cy="270506"/>
            </a:xfrm>
            <a:prstGeom prst="rect">
              <a:avLst/>
            </a:prstGeom>
            <a:solidFill>
              <a:srgbClr val="1424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539765" y="3988887"/>
              <a:ext cx="7543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Training</a:t>
              </a:r>
            </a:p>
            <a:p>
              <a:pPr algn="ctr"/>
              <a:r>
                <a:rPr lang="en-US" altLang="zh-CN" sz="7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Testing</a:t>
              </a:r>
              <a:endParaRPr lang="zh-CN" altLang="en-US" sz="7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4227374" y="4009706"/>
              <a:ext cx="504194" cy="270506"/>
            </a:xfrm>
            <a:prstGeom prst="rect">
              <a:avLst/>
            </a:prstGeom>
            <a:solidFill>
              <a:srgbClr val="1424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4102279" y="3988887"/>
              <a:ext cx="7543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7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Temporal</a:t>
              </a:r>
            </a:p>
            <a:p>
              <a:pPr algn="ctr"/>
              <a:r>
                <a:rPr lang="en-US" altLang="zh-CN" sz="7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framework</a:t>
              </a:r>
              <a:endParaRPr lang="zh-CN" altLang="en-US" sz="7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8" name="箭头: 右 47"/>
            <p:cNvSpPr/>
            <p:nvPr/>
          </p:nvSpPr>
          <p:spPr>
            <a:xfrm rot="5400000" flipH="1">
              <a:off x="3525081" y="3548826"/>
              <a:ext cx="312833" cy="187601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677518" y="3556186"/>
              <a:ext cx="105405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>
                  <a:solidFill>
                    <a:srgbClr val="BFE2FF"/>
                  </a:solidFill>
                  <a:latin typeface="Comic Sans MS" panose="030F0702030302020204" pitchFamily="66" charset="0"/>
                </a:rPr>
                <a:t>Biodiversity loss</a:t>
              </a:r>
              <a:endParaRPr lang="zh-CN" altLang="en-US" sz="800" dirty="0">
                <a:solidFill>
                  <a:srgbClr val="BFE2FF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5411000" y="2452585"/>
              <a:ext cx="3070063" cy="2088000"/>
            </a:xfrm>
            <a:prstGeom prst="rect">
              <a:avLst/>
            </a:prstGeom>
            <a:solidFill>
              <a:srgbClr val="0082AF"/>
            </a:solidFill>
            <a:ln w="317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5506215" y="2851889"/>
              <a:ext cx="1537597" cy="446225"/>
            </a:xfrm>
            <a:prstGeom prst="rect">
              <a:avLst/>
            </a:prstGeom>
            <a:solidFill>
              <a:srgbClr val="007896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5553488" y="2902280"/>
              <a:ext cx="1447990" cy="353077"/>
            </a:xfrm>
            <a:prstGeom prst="rect">
              <a:avLst/>
            </a:prstGeom>
            <a:solidFill>
              <a:srgbClr val="004E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372785" y="2891455"/>
              <a:ext cx="1809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Generalize the traditional form of </a:t>
              </a:r>
              <a:r>
                <a:rPr lang="en-US" altLang="zh-CN" sz="900" b="1" dirty="0">
                  <a:solidFill>
                    <a:schemeClr val="bg1"/>
                  </a:solidFill>
                  <a:latin typeface="Comic Sans MS" panose="030F0702030302020204" pitchFamily="66" charset="0"/>
                  <a:cs typeface="Times New Roman" panose="02020603050405020304" pitchFamily="18" charset="0"/>
                </a:rPr>
                <a:t>Pascal’s Triangle</a:t>
              </a:r>
              <a:endParaRPr lang="zh-CN" altLang="en-US" sz="900" b="1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506215" y="3445546"/>
              <a:ext cx="1809396" cy="377791"/>
            </a:xfrm>
            <a:prstGeom prst="rect">
              <a:avLst/>
            </a:prstGeom>
            <a:solidFill>
              <a:srgbClr val="007896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5506085" y="2508885"/>
              <a:ext cx="297561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Reemergence of Native Species</a:t>
              </a:r>
              <a:endParaRPr lang="zh-CN" altLang="en-US" sz="1400" b="1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546682" y="3510625"/>
              <a:ext cx="1701843" cy="258973"/>
            </a:xfrm>
            <a:prstGeom prst="rect">
              <a:avLst/>
            </a:prstGeom>
            <a:solidFill>
              <a:srgbClr val="004E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449713" y="3506369"/>
              <a:ext cx="189883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Ecosystem Stability Model</a:t>
              </a:r>
              <a:endParaRPr lang="zh-CN" altLang="en-US" sz="10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5751264" y="4009326"/>
              <a:ext cx="2362200" cy="418458"/>
            </a:xfrm>
            <a:prstGeom prst="rect">
              <a:avLst/>
            </a:prstGeom>
            <a:solidFill>
              <a:srgbClr val="007896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矩形 62"/>
            <p:cNvSpPr/>
            <p:nvPr/>
          </p:nvSpPr>
          <p:spPr>
            <a:xfrm>
              <a:off x="7184243" y="2790284"/>
              <a:ext cx="1193069" cy="557622"/>
            </a:xfrm>
            <a:prstGeom prst="rect">
              <a:avLst/>
            </a:prstGeom>
            <a:solidFill>
              <a:srgbClr val="007896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矩形 28"/>
            <p:cNvSpPr/>
            <p:nvPr/>
          </p:nvSpPr>
          <p:spPr>
            <a:xfrm>
              <a:off x="7220396" y="2837307"/>
              <a:ext cx="1120455" cy="468983"/>
            </a:xfrm>
            <a:prstGeom prst="rect">
              <a:avLst/>
            </a:prstGeom>
            <a:solidFill>
              <a:srgbClr val="004E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096827" y="2816487"/>
              <a:ext cx="137947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Describe the reemergence of native species</a:t>
              </a:r>
              <a:endParaRPr lang="zh-CN" altLang="en-US" sz="9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5848102" y="4088425"/>
              <a:ext cx="2181224" cy="270506"/>
            </a:xfrm>
            <a:prstGeom prst="rect">
              <a:avLst/>
            </a:prstGeom>
            <a:solidFill>
              <a:srgbClr val="004E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5632042" y="4112314"/>
              <a:ext cx="26279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Quantify the effects of reemergence</a:t>
              </a:r>
              <a:endParaRPr lang="zh-CN" altLang="en-US" sz="9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64" name="箭头: 右 63"/>
            <p:cNvSpPr/>
            <p:nvPr/>
          </p:nvSpPr>
          <p:spPr>
            <a:xfrm rot="16200000" flipH="1">
              <a:off x="6788150" y="3833495"/>
              <a:ext cx="252095" cy="174625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箭头: 右 64"/>
            <p:cNvSpPr/>
            <p:nvPr/>
          </p:nvSpPr>
          <p:spPr>
            <a:xfrm rot="18932811" flipH="1">
              <a:off x="7015480" y="3300095"/>
              <a:ext cx="271780" cy="148590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949745" y="1833144"/>
              <a:ext cx="358532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latin typeface="Comic Sans MS" panose="030F0702030302020204" pitchFamily="66" charset="0"/>
                </a:rPr>
                <a:t>Our Work</a:t>
              </a:r>
              <a:endParaRPr lang="zh-CN" altLang="en-US" sz="2400" dirty="0">
                <a:latin typeface="Comic Sans MS" panose="030F0702030302020204" pitchFamily="66" charset="0"/>
              </a:endParaRPr>
            </a:p>
          </p:txBody>
        </p:sp>
        <p:sp>
          <p:nvSpPr>
            <p:cNvPr id="66" name="箭头: 右 65"/>
            <p:cNvSpPr/>
            <p:nvPr/>
          </p:nvSpPr>
          <p:spPr>
            <a:xfrm rot="10800000" flipH="1">
              <a:off x="3037214" y="4066896"/>
              <a:ext cx="125095" cy="129543"/>
            </a:xfrm>
            <a:prstGeom prst="rightArrow">
              <a:avLst>
                <a:gd name="adj1" fmla="val 50000"/>
                <a:gd name="adj2" fmla="val 557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箭头: 右 66"/>
            <p:cNvSpPr/>
            <p:nvPr/>
          </p:nvSpPr>
          <p:spPr>
            <a:xfrm rot="10800000" flipH="1">
              <a:off x="3605791" y="4066896"/>
              <a:ext cx="125095" cy="129543"/>
            </a:xfrm>
            <a:prstGeom prst="rightArrow">
              <a:avLst>
                <a:gd name="adj1" fmla="val 50000"/>
                <a:gd name="adj2" fmla="val 557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箭头: 右 67"/>
            <p:cNvSpPr/>
            <p:nvPr/>
          </p:nvSpPr>
          <p:spPr>
            <a:xfrm rot="10800000" flipH="1">
              <a:off x="4141996" y="4064385"/>
              <a:ext cx="125095" cy="129543"/>
            </a:xfrm>
            <a:prstGeom prst="rightArrow">
              <a:avLst>
                <a:gd name="adj1" fmla="val 50000"/>
                <a:gd name="adj2" fmla="val 5571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7429226" y="3398068"/>
              <a:ext cx="867181" cy="166052"/>
            </a:xfrm>
            <a:prstGeom prst="rect">
              <a:avLst/>
            </a:prstGeom>
            <a:solidFill>
              <a:srgbClr val="007896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矩形 52"/>
            <p:cNvSpPr/>
            <p:nvPr/>
          </p:nvSpPr>
          <p:spPr>
            <a:xfrm>
              <a:off x="7457603" y="3422435"/>
              <a:ext cx="817687" cy="114975"/>
            </a:xfrm>
            <a:prstGeom prst="rect">
              <a:avLst/>
            </a:prstGeom>
            <a:solidFill>
              <a:srgbClr val="004E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427764" y="3385247"/>
              <a:ext cx="95741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Resistance Stability</a:t>
              </a:r>
              <a:endParaRPr lang="zh-CN" altLang="en-US" sz="6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7430802" y="3591738"/>
              <a:ext cx="867181" cy="166052"/>
            </a:xfrm>
            <a:prstGeom prst="rect">
              <a:avLst/>
            </a:prstGeom>
            <a:solidFill>
              <a:srgbClr val="007896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矩形 57"/>
            <p:cNvSpPr/>
            <p:nvPr/>
          </p:nvSpPr>
          <p:spPr>
            <a:xfrm>
              <a:off x="7459179" y="3616105"/>
              <a:ext cx="817687" cy="114975"/>
            </a:xfrm>
            <a:prstGeom prst="rect">
              <a:avLst/>
            </a:prstGeom>
            <a:solidFill>
              <a:srgbClr val="004E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7429340" y="3578917"/>
              <a:ext cx="95741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Resilience Stability</a:t>
              </a:r>
              <a:endParaRPr lang="zh-CN" altLang="en-US" sz="6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7430802" y="3785417"/>
              <a:ext cx="867181" cy="166052"/>
            </a:xfrm>
            <a:prstGeom prst="rect">
              <a:avLst/>
            </a:prstGeom>
            <a:solidFill>
              <a:srgbClr val="007896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矩形 68"/>
            <p:cNvSpPr/>
            <p:nvPr/>
          </p:nvSpPr>
          <p:spPr>
            <a:xfrm>
              <a:off x="7459179" y="3809784"/>
              <a:ext cx="817687" cy="114975"/>
            </a:xfrm>
            <a:prstGeom prst="rect">
              <a:avLst/>
            </a:prstGeom>
            <a:solidFill>
              <a:srgbClr val="004E6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7429340" y="3772596"/>
              <a:ext cx="95741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Ecosystem Stability</a:t>
              </a:r>
              <a:endParaRPr lang="zh-CN" altLang="en-US" sz="6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7385818" y="3374109"/>
              <a:ext cx="955033" cy="606594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3242766" y="2077573"/>
              <a:ext cx="106506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</a:rPr>
                <a:t>Task 1</a:t>
              </a:r>
              <a:endParaRPr lang="zh-CN" altLang="en-US" sz="1600" dirty="0">
                <a:latin typeface="Comic Sans MS" panose="030F0702030302020204" pitchFamily="66" charset="0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511279" y="2083900"/>
              <a:ext cx="106506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</a:rPr>
                <a:t>Task 2</a:t>
              </a:r>
              <a:endParaRPr lang="zh-CN" altLang="en-US" sz="1600" dirty="0">
                <a:latin typeface="Comic Sans MS" panose="030F0702030302020204" pitchFamily="66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2108240" y="2438588"/>
              <a:ext cx="2854900" cy="2088000"/>
            </a:xfrm>
            <a:prstGeom prst="rect">
              <a:avLst/>
            </a:prstGeom>
            <a:solidFill>
              <a:srgbClr val="00C99F"/>
            </a:solidFill>
            <a:ln w="317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801973" y="2436927"/>
              <a:ext cx="1720211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Organic Farming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12211050" y="3366135"/>
              <a:ext cx="900430" cy="1101725"/>
            </a:xfrm>
            <a:prstGeom prst="rect">
              <a:avLst/>
            </a:prstGeom>
            <a:solidFill>
              <a:srgbClr val="00A27E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2249150" y="3686175"/>
              <a:ext cx="824865" cy="189865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bg1"/>
                  </a:solidFill>
                  <a:latin typeface="Comic Sans MS" panose="030F0702030302020204" pitchFamily="66" charset="0"/>
                  <a:sym typeface="+mn-ea"/>
                </a:rPr>
                <a:t>pests control</a:t>
              </a:r>
              <a:endParaRPr lang="en-US" altLang="zh-CN" sz="800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12251055" y="3912870"/>
              <a:ext cx="822960" cy="207010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latin typeface="Comic Sans MS" panose="030F0702030302020204" pitchFamily="66" charset="0"/>
                  <a:ea typeface="sans-serif"/>
                  <a:cs typeface="Comic Sans MS" panose="030F0702030302020204" pitchFamily="66" charset="0"/>
                  <a:sym typeface="+mn-ea"/>
                </a:rPr>
                <a:t>crop health</a:t>
              </a:r>
              <a:endParaRPr lang="zh-CN" altLang="en-US" sz="8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2250420" y="4156710"/>
              <a:ext cx="823595" cy="270510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latin typeface="Comic Sans MS" panose="030F0702030302020204" pitchFamily="66" charset="0"/>
                  <a:ea typeface="sans-serif"/>
                  <a:cs typeface="Comic Sans MS" panose="030F0702030302020204" pitchFamily="66" charset="0"/>
                  <a:sym typeface="+mn-ea"/>
                </a:rPr>
                <a:t>plant reproduction</a:t>
              </a:r>
              <a:endParaRPr lang="zh-CN" altLang="en-US" sz="8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13147040" y="3366135"/>
              <a:ext cx="892810" cy="1101725"/>
            </a:xfrm>
            <a:prstGeom prst="rect">
              <a:avLst/>
            </a:prstGeom>
            <a:solidFill>
              <a:srgbClr val="00A27E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4074775" y="3366135"/>
              <a:ext cx="839470" cy="1101725"/>
            </a:xfrm>
            <a:prstGeom prst="rect">
              <a:avLst/>
            </a:prstGeom>
            <a:solidFill>
              <a:srgbClr val="00A27E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4112875" y="3796030"/>
              <a:ext cx="777240" cy="234315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>
                  <a:latin typeface="Comic Sans MS" panose="030F0702030302020204" pitchFamily="66" charset="0"/>
                  <a:ea typeface="sans-serif"/>
                  <a:cs typeface="Comic Sans MS" panose="030F0702030302020204" pitchFamily="66" charset="0"/>
                  <a:sym typeface="+mn-ea"/>
                </a:rPr>
                <a:t>Costs</a:t>
              </a:r>
              <a:r>
                <a:rPr lang="en-US" altLang="zh-CN" sz="800">
                  <a:latin typeface="Comic Sans MS" panose="030F0702030302020204" pitchFamily="66" charset="0"/>
                  <a:ea typeface="sans-serif"/>
                  <a:cs typeface="Comic Sans MS" panose="030F0702030302020204" pitchFamily="66" charset="0"/>
                  <a:sym typeface="+mn-ea"/>
                </a:rPr>
                <a:t> </a:t>
              </a:r>
              <a:endParaRPr lang="zh-CN" altLang="en-US" sz="8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3178790" y="3795395"/>
              <a:ext cx="829310" cy="234950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latin typeface="Comic Sans MS" panose="030F0702030302020204" pitchFamily="66" charset="0"/>
                  <a:ea typeface="sans-serif"/>
                  <a:cs typeface="Comic Sans MS" panose="030F0702030302020204" pitchFamily="66" charset="0"/>
                  <a:sym typeface="+mn-ea"/>
                </a:rPr>
                <a:t>biodiversity</a:t>
              </a:r>
              <a:endParaRPr lang="zh-CN" altLang="en-US" sz="8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3178790" y="4128770"/>
              <a:ext cx="829310" cy="218440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latin typeface="Comic Sans MS" panose="030F0702030302020204" pitchFamily="66" charset="0"/>
                  <a:ea typeface="sans-serif"/>
                  <a:cs typeface="Comic Sans MS" panose="030F0702030302020204" pitchFamily="66" charset="0"/>
                  <a:sym typeface="+mn-ea"/>
                </a:rPr>
                <a:t>sustainability</a:t>
              </a:r>
              <a:endParaRPr lang="zh-CN" altLang="en-US" sz="8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2277725" y="3295015"/>
              <a:ext cx="90106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>
                  <a:solidFill>
                    <a:schemeClr val="bg1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Biological</a:t>
              </a:r>
              <a:r>
                <a:rPr lang="en-US" altLang="zh-CN"/>
                <a:t> 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3178790" y="3354070"/>
              <a:ext cx="114871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>
                  <a:solidFill>
                    <a:schemeClr val="bg1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Ecosystem Stability</a:t>
              </a: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4112875" y="3366135"/>
              <a:ext cx="8890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>
                  <a:solidFill>
                    <a:schemeClr val="bg1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Economic Efficiency</a:t>
              </a:r>
            </a:p>
          </p:txBody>
        </p:sp>
        <p:sp>
          <p:nvSpPr>
            <p:cNvPr id="72" name="矩形 71"/>
            <p:cNvSpPr/>
            <p:nvPr/>
          </p:nvSpPr>
          <p:spPr>
            <a:xfrm>
              <a:off x="14112875" y="4131310"/>
              <a:ext cx="777240" cy="215900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latin typeface="Comic Sans MS" panose="030F0702030302020204" pitchFamily="66" charset="0"/>
                  <a:cs typeface="Comic Sans MS" panose="030F0702030302020204" pitchFamily="66" charset="0"/>
                </a:rPr>
                <a:t>Revenue</a:t>
              </a:r>
            </a:p>
          </p:txBody>
        </p:sp>
        <p:sp>
          <p:nvSpPr>
            <p:cNvPr id="74" name="矩形 73"/>
            <p:cNvSpPr/>
            <p:nvPr/>
          </p:nvSpPr>
          <p:spPr>
            <a:xfrm>
              <a:off x="12210415" y="2750185"/>
              <a:ext cx="2703195" cy="540385"/>
            </a:xfrm>
            <a:prstGeom prst="rect">
              <a:avLst/>
            </a:prstGeom>
            <a:solidFill>
              <a:srgbClr val="00A27E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12439650" y="3042285"/>
              <a:ext cx="2327910" cy="207010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Comic Sans MS" panose="030F0702030302020204" pitchFamily="66" charset="0"/>
                  <a:cs typeface="Comic Sans MS" panose="030F0702030302020204" pitchFamily="66" charset="0"/>
                </a:rPr>
                <a:t>Multi-objective Optimization Model</a:t>
              </a:r>
            </a:p>
          </p:txBody>
        </p:sp>
        <p:sp>
          <p:nvSpPr>
            <p:cNvPr id="76" name="矩形 75"/>
            <p:cNvSpPr/>
            <p:nvPr/>
          </p:nvSpPr>
          <p:spPr>
            <a:xfrm>
              <a:off x="12439650" y="2784475"/>
              <a:ext cx="2327910" cy="207010"/>
            </a:xfrm>
            <a:prstGeom prst="rect">
              <a:avLst/>
            </a:prstGeom>
            <a:solidFill>
              <a:srgbClr val="0070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>
                  <a:latin typeface="Comic Sans MS" panose="030F0702030302020204" pitchFamily="66" charset="0"/>
                  <a:cs typeface="Comic Sans MS" panose="030F0702030302020204" pitchFamily="66" charset="0"/>
                </a:rPr>
                <a:t>Simulated Annealing Algorithm</a:t>
              </a:r>
            </a:p>
          </p:txBody>
        </p:sp>
        <p:sp>
          <p:nvSpPr>
            <p:cNvPr id="77" name="上箭头 76"/>
            <p:cNvSpPr/>
            <p:nvPr/>
          </p:nvSpPr>
          <p:spPr>
            <a:xfrm>
              <a:off x="13496290" y="2969260"/>
              <a:ext cx="144780" cy="97155"/>
            </a:xfrm>
            <a:prstGeom prst="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8872915" y="2462083"/>
              <a:ext cx="2854900" cy="2088000"/>
            </a:xfrm>
            <a:prstGeom prst="rect">
              <a:avLst/>
            </a:prstGeom>
            <a:solidFill>
              <a:srgbClr val="00A7B3"/>
            </a:solidFill>
            <a:ln w="317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9256395" y="2476500"/>
              <a:ext cx="2398395" cy="30670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 sz="1400" b="1">
                  <a:solidFill>
                    <a:schemeClr val="bg1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Removal of Herbicide</a:t>
              </a:r>
            </a:p>
          </p:txBody>
        </p:sp>
        <p:sp>
          <p:nvSpPr>
            <p:cNvPr id="80" name="矩形 79"/>
            <p:cNvSpPr/>
            <p:nvPr/>
          </p:nvSpPr>
          <p:spPr>
            <a:xfrm>
              <a:off x="9095740" y="2818130"/>
              <a:ext cx="784225" cy="1637665"/>
            </a:xfrm>
            <a:prstGeom prst="rect">
              <a:avLst/>
            </a:prstGeom>
            <a:solidFill>
              <a:srgbClr val="00858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9064625" y="2818130"/>
              <a:ext cx="865505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solidFill>
                    <a:schemeClr val="bg1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Short term</a:t>
              </a:r>
            </a:p>
          </p:txBody>
        </p:sp>
        <p:sp>
          <p:nvSpPr>
            <p:cNvPr id="82" name="矩形 81"/>
            <p:cNvSpPr/>
            <p:nvPr/>
          </p:nvSpPr>
          <p:spPr>
            <a:xfrm>
              <a:off x="10047605" y="2818130"/>
              <a:ext cx="1536700" cy="1637665"/>
            </a:xfrm>
            <a:prstGeom prst="rect">
              <a:avLst/>
            </a:prstGeom>
            <a:solidFill>
              <a:srgbClr val="00858A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848" name="图片 184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842"/>
            <a:stretch>
              <a:fillRect/>
            </a:stretch>
          </p:blipFill>
          <p:spPr>
            <a:xfrm>
              <a:off x="10812780" y="3965575"/>
              <a:ext cx="771525" cy="474980"/>
            </a:xfrm>
            <a:prstGeom prst="rect">
              <a:avLst/>
            </a:prstGeom>
          </p:spPr>
        </p:pic>
        <p:grpSp>
          <p:nvGrpSpPr>
            <p:cNvPr id="1849" name="组合 1848"/>
            <p:cNvGrpSpPr/>
            <p:nvPr/>
          </p:nvGrpSpPr>
          <p:grpSpPr>
            <a:xfrm>
              <a:off x="10107930" y="3965575"/>
              <a:ext cx="675005" cy="419735"/>
              <a:chOff x="5319379" y="5576257"/>
              <a:chExt cx="3270642" cy="2763057"/>
            </a:xfrm>
          </p:grpSpPr>
          <p:pic>
            <p:nvPicPr>
              <p:cNvPr id="83" name="图片 8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19379" y="5576257"/>
                <a:ext cx="3225866" cy="1376426"/>
              </a:xfrm>
              <a:prstGeom prst="rect">
                <a:avLst/>
              </a:prstGeom>
            </p:spPr>
          </p:pic>
          <p:pic>
            <p:nvPicPr>
              <p:cNvPr id="84" name="图片 8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19379" y="6952683"/>
                <a:ext cx="3270642" cy="1386631"/>
              </a:xfrm>
              <a:prstGeom prst="rect">
                <a:avLst/>
              </a:prstGeom>
            </p:spPr>
          </p:pic>
        </p:grpSp>
        <p:sp>
          <p:nvSpPr>
            <p:cNvPr id="85" name="文本框 84"/>
            <p:cNvSpPr txBox="1"/>
            <p:nvPr/>
          </p:nvSpPr>
          <p:spPr>
            <a:xfrm>
              <a:off x="10365740" y="2787650"/>
              <a:ext cx="1104265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solidFill>
                    <a:schemeClr val="bg1"/>
                  </a:solidFill>
                  <a:latin typeface="Comic Sans MS" panose="030F0702030302020204" pitchFamily="66" charset="0"/>
                  <a:cs typeface="Comic Sans MS" panose="030F0702030302020204" pitchFamily="66" charset="0"/>
                </a:rPr>
                <a:t>Long term</a:t>
              </a:r>
            </a:p>
          </p:txBody>
        </p:sp>
        <p:sp>
          <p:nvSpPr>
            <p:cNvPr id="86" name="矩形 85"/>
            <p:cNvSpPr/>
            <p:nvPr/>
          </p:nvSpPr>
          <p:spPr>
            <a:xfrm>
              <a:off x="9147810" y="3063875"/>
              <a:ext cx="690880" cy="241935"/>
            </a:xfrm>
            <a:prstGeom prst="rect">
              <a:avLst/>
            </a:prstGeom>
            <a:solidFill>
              <a:srgbClr val="006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>
                  <a:latin typeface="Comic Sans MS" panose="030F0702030302020204" pitchFamily="66" charset="0"/>
                  <a:cs typeface="Comic Sans MS" panose="030F0702030302020204" pitchFamily="66" charset="0"/>
                </a:rPr>
                <a:t>producer</a:t>
              </a:r>
            </a:p>
          </p:txBody>
        </p:sp>
        <p:sp>
          <p:nvSpPr>
            <p:cNvPr id="87" name="矩形 86"/>
            <p:cNvSpPr/>
            <p:nvPr/>
          </p:nvSpPr>
          <p:spPr>
            <a:xfrm>
              <a:off x="9147810" y="3370580"/>
              <a:ext cx="690880" cy="241935"/>
            </a:xfrm>
            <a:prstGeom prst="rect">
              <a:avLst/>
            </a:prstGeom>
            <a:solidFill>
              <a:srgbClr val="006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>
                  <a:latin typeface="Comic Sans MS" panose="030F0702030302020204" pitchFamily="66" charset="0"/>
                  <a:cs typeface="Comic Sans MS" panose="030F0702030302020204" pitchFamily="66" charset="0"/>
                </a:rPr>
                <a:t>consumer</a:t>
              </a:r>
            </a:p>
          </p:txBody>
        </p:sp>
        <p:sp>
          <p:nvSpPr>
            <p:cNvPr id="88" name="矩形 87"/>
            <p:cNvSpPr/>
            <p:nvPr/>
          </p:nvSpPr>
          <p:spPr>
            <a:xfrm>
              <a:off x="9131935" y="3032760"/>
              <a:ext cx="720725" cy="634365"/>
            </a:xfrm>
            <a:prstGeom prst="rect">
              <a:avLst/>
            </a:prstGeom>
            <a:noFill/>
            <a:ln w="6350" cap="flat" cmpd="sng" algn="ctr">
              <a:solidFill>
                <a:schemeClr val="bg1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9131935" y="3771265"/>
              <a:ext cx="706120" cy="280035"/>
            </a:xfrm>
            <a:prstGeom prst="rect">
              <a:avLst/>
            </a:prstGeom>
            <a:solidFill>
              <a:srgbClr val="006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latin typeface="Comic Sans MS" panose="030F0702030302020204" pitchFamily="66" charset="0"/>
                  <a:cs typeface="Comic Sans MS" panose="030F0702030302020204" pitchFamily="66" charset="0"/>
                  <a:sym typeface="+mn-ea"/>
                </a:rPr>
                <a:t>Stronger Resistance</a:t>
              </a:r>
              <a:endParaRPr lang="en-US" altLang="zh-CN" sz="8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9132570" y="4105275"/>
              <a:ext cx="711835" cy="280035"/>
            </a:xfrm>
            <a:prstGeom prst="rect">
              <a:avLst/>
            </a:prstGeom>
            <a:solidFill>
              <a:srgbClr val="006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latin typeface="Comic Sans MS" panose="030F0702030302020204" pitchFamily="66" charset="0"/>
                  <a:cs typeface="Comic Sans MS" panose="030F0702030302020204" pitchFamily="66" charset="0"/>
                </a:rPr>
                <a:t>Higher</a:t>
              </a:r>
            </a:p>
            <a:p>
              <a:pPr algn="ctr"/>
              <a:r>
                <a:rPr lang="en-US" altLang="zh-CN" sz="800">
                  <a:latin typeface="Comic Sans MS" panose="030F0702030302020204" pitchFamily="66" charset="0"/>
                  <a:cs typeface="Comic Sans MS" panose="030F0702030302020204" pitchFamily="66" charset="0"/>
                </a:rPr>
                <a:t>Richness</a:t>
              </a:r>
            </a:p>
          </p:txBody>
        </p:sp>
        <p:sp>
          <p:nvSpPr>
            <p:cNvPr id="91" name="上箭头 90"/>
            <p:cNvSpPr/>
            <p:nvPr/>
          </p:nvSpPr>
          <p:spPr>
            <a:xfrm rot="10800000">
              <a:off x="9412605" y="3660140"/>
              <a:ext cx="144780" cy="97155"/>
            </a:xfrm>
            <a:prstGeom prst="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10196195" y="3300095"/>
              <a:ext cx="1239520" cy="303530"/>
            </a:xfrm>
            <a:prstGeom prst="rect">
              <a:avLst/>
            </a:prstGeom>
            <a:solidFill>
              <a:srgbClr val="006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latin typeface="Comic Sans MS" panose="030F0702030302020204" pitchFamily="66" charset="0"/>
                  <a:cs typeface="Comic Sans MS" panose="030F0702030302020204" pitchFamily="66" charset="0"/>
                  <a:sym typeface="+mn-ea"/>
                </a:rPr>
                <a:t>Convolution model</a:t>
              </a:r>
              <a:endParaRPr lang="en-US" altLang="zh-CN" sz="10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10107930" y="3032760"/>
              <a:ext cx="544830" cy="194310"/>
            </a:xfrm>
            <a:prstGeom prst="rect">
              <a:avLst/>
            </a:prstGeom>
            <a:solidFill>
              <a:srgbClr val="006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>
                  <a:latin typeface="Comic Sans MS" panose="030F0702030302020204" pitchFamily="66" charset="0"/>
                  <a:cs typeface="Comic Sans MS" panose="030F0702030302020204" pitchFamily="66" charset="0"/>
                </a:rPr>
                <a:t>Bats</a:t>
              </a:r>
            </a:p>
          </p:txBody>
        </p:sp>
        <p:sp>
          <p:nvSpPr>
            <p:cNvPr id="94" name="矩形 93"/>
            <p:cNvSpPr/>
            <p:nvPr/>
          </p:nvSpPr>
          <p:spPr>
            <a:xfrm>
              <a:off x="10719435" y="3032760"/>
              <a:ext cx="811530" cy="194310"/>
            </a:xfrm>
            <a:prstGeom prst="rect">
              <a:avLst/>
            </a:prstGeom>
            <a:solidFill>
              <a:srgbClr val="006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latin typeface="Comic Sans MS" panose="030F0702030302020204" pitchFamily="66" charset="0"/>
                  <a:cs typeface="Comic Sans MS" panose="030F0702030302020204" pitchFamily="66" charset="0"/>
                  <a:sym typeface="+mn-ea"/>
                </a:rPr>
                <a:t>Grass Snake</a:t>
              </a:r>
              <a:endParaRPr lang="en-US" altLang="zh-CN" sz="8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10196195" y="3637915"/>
              <a:ext cx="1239520" cy="303530"/>
            </a:xfrm>
            <a:prstGeom prst="rect">
              <a:avLst/>
            </a:prstGeom>
            <a:solidFill>
              <a:srgbClr val="0062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900" dirty="0">
                  <a:latin typeface="Comic Sans MS" panose="030F0702030302020204" pitchFamily="66" charset="0"/>
                  <a:cs typeface="Comic Sans MS" panose="030F0702030302020204" pitchFamily="66" charset="0"/>
                  <a:sym typeface="+mn-ea"/>
                </a:rPr>
                <a:t>stable interval</a:t>
              </a:r>
            </a:p>
            <a:p>
              <a:pPr algn="ctr"/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[22%, 75%]</a:t>
              </a:r>
              <a:endParaRPr lang="en-US" altLang="zh-CN" sz="900">
                <a:latin typeface="Comic Sans MS" panose="030F0702030302020204" pitchFamily="66" charset="0"/>
                <a:cs typeface="Comic Sans MS" panose="030F0702030302020204" pitchFamily="66" charset="0"/>
              </a:endParaRPr>
            </a:p>
          </p:txBody>
        </p:sp>
        <p:sp>
          <p:nvSpPr>
            <p:cNvPr id="96" name="丁字箭头 95"/>
            <p:cNvSpPr/>
            <p:nvPr/>
          </p:nvSpPr>
          <p:spPr>
            <a:xfrm rot="10800000">
              <a:off x="10560685" y="3121660"/>
              <a:ext cx="231140" cy="172720"/>
            </a:xfrm>
            <a:prstGeom prst="leftRight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9879954" y="2077550"/>
              <a:ext cx="106506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</a:rPr>
                <a:t>Task 3</a:t>
              </a:r>
              <a:endParaRPr lang="zh-CN" altLang="en-US" sz="1600" dirty="0">
                <a:latin typeface="Comic Sans MS" panose="030F0702030302020204" pitchFamily="66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13047969" y="2083900"/>
              <a:ext cx="1065065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omic Sans MS" panose="030F0702030302020204" pitchFamily="66" charset="0"/>
                </a:rPr>
                <a:t>Task 4</a:t>
              </a:r>
              <a:endParaRPr lang="zh-CN" altLang="en-US" sz="1600" dirty="0">
                <a:latin typeface="Comic Sans MS" panose="030F0702030302020204" pitchFamily="66" charset="0"/>
              </a:endParaRPr>
            </a:p>
          </p:txBody>
        </p:sp>
        <p:sp>
          <p:nvSpPr>
            <p:cNvPr id="99" name="箭头: 右 9"/>
            <p:cNvSpPr/>
            <p:nvPr/>
          </p:nvSpPr>
          <p:spPr>
            <a:xfrm>
              <a:off x="11758930" y="3408680"/>
              <a:ext cx="348615" cy="271780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箭头: 右 9"/>
            <p:cNvSpPr/>
            <p:nvPr/>
          </p:nvSpPr>
          <p:spPr>
            <a:xfrm>
              <a:off x="8543925" y="3469640"/>
              <a:ext cx="297815" cy="25082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箭头: 右 9"/>
            <p:cNvSpPr/>
            <p:nvPr/>
          </p:nvSpPr>
          <p:spPr>
            <a:xfrm>
              <a:off x="5113020" y="3397885"/>
              <a:ext cx="297815" cy="250825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箭头: 右 63"/>
            <p:cNvSpPr/>
            <p:nvPr/>
          </p:nvSpPr>
          <p:spPr>
            <a:xfrm rot="10800000" flipH="1">
              <a:off x="7026275" y="2992120"/>
              <a:ext cx="221615" cy="151765"/>
            </a:xfrm>
            <a:prstGeom prst="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上箭头 105"/>
            <p:cNvSpPr/>
            <p:nvPr/>
          </p:nvSpPr>
          <p:spPr>
            <a:xfrm rot="5400000">
              <a:off x="9930765" y="3595370"/>
              <a:ext cx="144780" cy="202565"/>
            </a:xfrm>
            <a:prstGeom prst="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上箭头 109"/>
            <p:cNvSpPr/>
            <p:nvPr/>
          </p:nvSpPr>
          <p:spPr>
            <a:xfrm>
              <a:off x="13486130" y="3279140"/>
              <a:ext cx="144780" cy="97155"/>
            </a:xfrm>
            <a:prstGeom prst="upArrow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116</Words>
  <Application>Microsoft Office PowerPoint</Application>
  <PresentationFormat>自定义</PresentationFormat>
  <Paragraphs>55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Comic Sans MS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浩桐 程</dc:creator>
  <cp:lastModifiedBy>浩桐 程</cp:lastModifiedBy>
  <cp:revision>8</cp:revision>
  <dcterms:created xsi:type="dcterms:W3CDTF">2025-01-27T04:55:00Z</dcterms:created>
  <dcterms:modified xsi:type="dcterms:W3CDTF">2025-01-27T11:03:46Z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7D80AABCC0704B40B4ECCEE750E4870C_13</vt:lpwstr>
  </property>
  <property fmtid="{D5CDD505-2E9C-101B-9397-08002B2CF9AE}" pid="3" name="KSOProductBuildVer">
    <vt:lpwstr>2052-12.1.0.19302</vt:lpwstr>
  </property>
</Properties>
</file>